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/>
          </a:prstGeom>
          <a:solidFill>
            <a:srgbClr val="0F0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600" b="1">
                <a:solidFill>
                  <a:srgbClr val="FFFFFF"/>
                </a:solidFill>
                <a:latin typeface="Microsoft YaHei"/>
              </a:defRPr>
            </a:pPr>
            <a:r>
              <a:t>Day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0" y="3017520"/>
            <a:ext cx="3047695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918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A78BFA"/>
                </a:solidFill>
                <a:latin typeface="Microsoft YaHei"/>
              </a:defRPr>
            </a:pPr>
            <a:r>
              <a:t>Vibe Coding 启蒙 + 工具准备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BD5E1"/>
                </a:solidFill>
                <a:latin typeface="Microsoft YaHei"/>
              </a:defRPr>
            </a:pPr>
            <a:r>
              <a:t>Easy-Vibe AI编程 0→1 免费体验营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669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导师：[你的名字]｜2026年5月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欢迎来到 Easy-Vibe 0→1 体验营！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A78BFA"/>
                </a:solidFill>
                <a:latin typeface="Microsoft YaHei"/>
              </a:defRPr>
            </a:pPr>
            <a:r>
              <a:t>今日议程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7432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🧠  理解 Vibe Coding 新编程范式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🛠️  手把手安装核心 AI 开发工具 Cursor</a:t>
            </a:r>
          </a:p>
          <a:p>
            <a:pPr>
              <a:spcAft>
                <a:spcPts val="16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🚀  用一句话生成你的第一个 AI 网页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56692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预计时长：40 分钟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我是 [你的名字]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🎯  专注 AI 原生开发与产品落地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👨‍🏫  已帮助数百名零基础学员做出第一个 AI 产品</a:t>
            </a:r>
          </a:p>
          <a:p>
            <a:pPr>
              <a:spcAft>
                <a:spcPts val="2000"/>
              </a:spcAft>
              <a:defRPr sz="2200">
                <a:solidFill>
                  <a:srgbClr val="FFFFFF"/>
                </a:solidFill>
                <a:latin typeface="Microsoft YaHei"/>
              </a:defRPr>
            </a:pPr>
            <a:r>
              <a:t>🦞  Easy-Vibe 实战导师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为什么你值得花 5 天学习 Vibe Coding？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45720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5029200" cy="3840480"/>
          </a:xfrm>
          <a:prstGeom prst="roundRect">
            <a:avLst/>
          </a:prstGeom>
          <a:solidFill>
            <a:srgbClr val="2D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Microsoft YaHei"/>
              </a:defRPr>
            </a:pPr>
            <a:r>
              <a:t>❌ 传统编程的痛点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BC0C0"/>
                </a:solidFill>
                <a:latin typeface="Microsoft YaHei"/>
              </a:defRPr>
            </a:pPr>
            <a:r>
              <a:t>要背大量语法和框架</a:t>
            </a:r>
          </a:p>
          <a:p>
            <a:pPr>
              <a:spcAft>
                <a:spcPts val="1400"/>
              </a:spcAft>
              <a:defRPr sz="1800">
                <a:solidFill>
                  <a:srgbClr val="FBC0C0"/>
                </a:solidFill>
                <a:latin typeface="Microsoft YaHei"/>
              </a:defRPr>
            </a:pPr>
            <a:r>
              <a:t>环境配置经常卡几个小时</a:t>
            </a:r>
          </a:p>
          <a:p>
            <a:pPr>
              <a:spcAft>
                <a:spcPts val="1400"/>
              </a:spcAft>
              <a:defRPr sz="1800">
                <a:solidFill>
                  <a:srgbClr val="FBC0C0"/>
                </a:solidFill>
                <a:latin typeface="Microsoft YaHei"/>
              </a:defRPr>
            </a:pPr>
            <a:r>
              <a:t>一个简单想法也要写几天代码</a:t>
            </a:r>
          </a:p>
          <a:p>
            <a:pPr>
              <a:spcAft>
                <a:spcPts val="1400"/>
              </a:spcAft>
              <a:defRPr sz="1800">
                <a:solidFill>
                  <a:srgbClr val="FBC0C0"/>
                </a:solidFill>
                <a:latin typeface="Microsoft YaHei"/>
              </a:defRPr>
            </a:pPr>
            <a:r>
              <a:t>调试 Bug 让人崩溃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029200" cy="3840480"/>
          </a:xfrm>
          <a:prstGeom prst="roundRect">
            <a:avLst/>
          </a:prstGeom>
          <a:solidFill>
            <a:srgbClr val="0D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✅ Vibe Coding 的优势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A7F3D0"/>
                </a:solidFill>
                <a:latin typeface="Microsoft YaHei"/>
              </a:defRPr>
            </a:pPr>
            <a:r>
              <a:t>用自然语言描述想法</a:t>
            </a:r>
          </a:p>
          <a:p>
            <a:pPr>
              <a:spcAft>
                <a:spcPts val="1400"/>
              </a:spcAft>
              <a:defRPr sz="1800">
                <a:solidFill>
                  <a:srgbClr val="A7F3D0"/>
                </a:solidFill>
                <a:latin typeface="Microsoft YaHei"/>
              </a:defRPr>
            </a:pPr>
            <a:r>
              <a:t>AI 帮你写代码、调试、优化</a:t>
            </a:r>
          </a:p>
          <a:p>
            <a:pPr>
              <a:spcAft>
                <a:spcPts val="1400"/>
              </a:spcAft>
              <a:defRPr sz="1800">
                <a:solidFill>
                  <a:srgbClr val="A7F3D0"/>
                </a:solidFill>
                <a:latin typeface="Microsoft YaHei"/>
              </a:defRPr>
            </a:pPr>
            <a:r>
              <a:t>5 天就能做出完整产品</a:t>
            </a:r>
          </a:p>
          <a:p>
            <a:pPr>
              <a:spcAft>
                <a:spcPts val="1400"/>
              </a:spcAft>
              <a:defRPr sz="1800">
                <a:solidFill>
                  <a:srgbClr val="A7F3D0"/>
                </a:solidFill>
                <a:latin typeface="Microsoft YaHei"/>
              </a:defRPr>
            </a:pPr>
            <a:r>
              <a:t>重点放在产品思维而非语法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2026 年的编程范式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4754880" cy="2286000"/>
          </a:xfrm>
          <a:prstGeom prst="roundRect">
            <a:avLst/>
          </a:prstGeom>
          <a:solidFill>
            <a:srgbClr val="1E15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19456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87171"/>
                </a:solidFill>
                <a:latin typeface="Microsoft YaHei"/>
              </a:defRPr>
            </a:pPr>
            <a:r>
              <a:t>传统编程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92608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写代码 → 编译 → 调试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5029200" cy="2286000"/>
          </a:xfrm>
          <a:prstGeom prst="roundRect">
            <a:avLst/>
          </a:prstGeom>
          <a:solidFill>
            <a:srgbClr val="0D28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19456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0B981"/>
                </a:solidFill>
                <a:latin typeface="Microsoft YaHei"/>
              </a:defRPr>
            </a:pPr>
            <a:r>
              <a:t>Vibe Coding（氛围编程）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26080"/>
            <a:ext cx="4389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A7F3D0"/>
                </a:solidFill>
                <a:latin typeface="Microsoft YaHei"/>
              </a:defRPr>
            </a:pPr>
            <a:r>
              <a:t>描述想法 → AI 生成 → 对话迭代 → 快速交付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7548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  <a:latin typeface="Microsoft YaHei"/>
              </a:defRPr>
            </a:pPr>
            <a:r>
              <a:t>会说话，就会做应用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会说话，就会做应用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2286000"/>
            <a:ext cx="3047695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743200" y="2926080"/>
            <a:ext cx="640080" cy="64008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3017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会说话，就会描述产品</a:t>
            </a:r>
          </a:p>
        </p:txBody>
      </p:sp>
      <p:sp>
        <p:nvSpPr>
          <p:cNvPr id="6" name="Oval 5"/>
          <p:cNvSpPr/>
          <p:nvPr/>
        </p:nvSpPr>
        <p:spPr>
          <a:xfrm>
            <a:off x="2743200" y="3931920"/>
            <a:ext cx="640080" cy="6400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4023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会迭代，就会优化产品</a:t>
            </a:r>
          </a:p>
        </p:txBody>
      </p:sp>
      <p:sp>
        <p:nvSpPr>
          <p:cNvPr id="8" name="Oval 7"/>
          <p:cNvSpPr/>
          <p:nvPr/>
        </p:nvSpPr>
        <p:spPr>
          <a:xfrm>
            <a:off x="2743200" y="4937760"/>
            <a:ext cx="640080" cy="64008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502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Microsoft YaHei"/>
              </a:defRPr>
            </a:pPr>
            <a:r>
              <a:t>会思考，就会用 AI 完成复杂任务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7607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BD5E1"/>
                </a:solidFill>
                <a:latin typeface="Microsoft YaHei"/>
              </a:defRPr>
            </a:pPr>
            <a:r>
              <a:t>项目地址：https://datawhalechina.github.io/easy-vibe/zh-cn/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Day 1 我们要达成什么？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402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理解 Vibe Coding 的核心思维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10896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46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成功安装并配置 Cursor 开发环境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251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独立生成并美化第一个 "Hello Vibe" 网页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257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✅  建立"我也能用 AI 做产品"的强烈信心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今天我们重点掌握的工具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229600" cy="22860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3AED"/>
                </a:solidFill>
                <a:latin typeface="Microsoft YaHei"/>
              </a:defRPr>
            </a:pPr>
            <a:r>
              <a:t>Cursor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47472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CBD5E1"/>
                </a:solidFill>
                <a:latin typeface="Microsoft YaHei"/>
              </a:defRPr>
            </a:pPr>
            <a:r>
              <a:t>AI 时代的代码编辑器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后续课程还会用到：Claude、Vercel、Supabase、Dify 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Cursor 到底有多强？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🧠  深度集成 Claude / GPT-4o / Grok 等顶级模型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8036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✏️  Composer 模式（多文件智能编辑）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74904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38404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💡  智能自动补全与对话式编程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4617719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709159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👁️  支持一键预览网页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97280" y="54864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63040" y="5577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🆓  完全免费基础版即可满足日常使用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Step 1  下载并安装 Cursor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浏览器访问 cursor.com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点击 "Download"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选择你的操作系统（Mac / Windows / Linux）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7548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下载完成后正常安装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ACC15"/>
                </a:solidFill>
                <a:latin typeface="Microsoft YaHei"/>
              </a:defRPr>
            </a:pPr>
            <a:r>
              <a:t>⚠️ Windows 用户双击安装，Mac 用户拖入「应用程序」文件夹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Step 2  登录并绑定 AI 模型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0116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1031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用 GitHub 账号登录（推荐）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29260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0175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进入 Settings → Models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38404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绑定你常用的模型（推荐 Claude 3.5/4 或 GPT-4o）</a:t>
            </a:r>
          </a:p>
        </p:txBody>
      </p:sp>
      <p:sp>
        <p:nvSpPr>
          <p:cNvPr id="10" name="Oval 9"/>
          <p:cNvSpPr/>
          <p:nvPr/>
        </p:nvSpPr>
        <p:spPr>
          <a:xfrm>
            <a:off x="1371600" y="47548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4846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开启 Auto Suggestion（智能提示）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Step 3  创建你的第一个 Vibe 项目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371600" y="22860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23774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在电脑上新建文件夹 → my-first-vibe</a:t>
            </a:r>
          </a:p>
        </p:txBody>
      </p:sp>
      <p:sp>
        <p:nvSpPr>
          <p:cNvPr id="6" name="Oval 5"/>
          <p:cNvSpPr/>
          <p:nvPr/>
        </p:nvSpPr>
        <p:spPr>
          <a:xfrm>
            <a:off x="1371600" y="338328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用 Cursor 打开该文件夹</a:t>
            </a:r>
          </a:p>
        </p:txBody>
      </p:sp>
      <p:sp>
        <p:nvSpPr>
          <p:cNvPr id="8" name="Oval 7"/>
          <p:cNvSpPr/>
          <p:nvPr/>
        </p:nvSpPr>
        <p:spPr>
          <a:xfrm>
            <a:off x="1371600" y="448056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准备完成！🎉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Cursor 界面一分钟熟悉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01168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1031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📁 左侧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031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文件浏览器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88036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9718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💬 右侧/下方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Chat 对话面板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74904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8404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⌨️ Cmd/Ctrl + 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8404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快速询问 AI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617719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709159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⌨️ Cmd/Ctrl + 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70915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进入 Composer 模式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97280" y="54864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5577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🖱️ 右键文件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5778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Open in Browser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现在，让我们生成第一个网页！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4114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0B981"/>
                </a:solidFill>
                <a:latin typeface="Microsoft YaHei"/>
              </a:defRPr>
            </a:pPr>
            <a:r>
              <a:t>Prompt 示例：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92608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请创建一个现代风格的"Hello Vibe"欢迎页面：</a:t>
            </a:r>
            <a:br/>
            <a:r>
              <a:t>- 深蓝到紫色渐变背景</a:t>
            </a:r>
            <a:br/>
            <a:r>
              <a:t>- 大标题：会说话，就会做应用</a:t>
            </a:r>
            <a:br/>
            <a:r>
              <a:t>- 副标题：我是 [你的名字] 的第一个 AI 作品</a:t>
            </a:r>
            <a:br/>
            <a:r>
              <a:t>- 添加一个彩色按钮，点击弹出欢迎消息</a:t>
            </a:r>
            <a:br/>
            <a:r>
              <a:t>- 整体科技感强，简洁高级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🛠️  实操演示：生成你的第一个网页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1. 在 Cursor 中新建 index.html 文件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7432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2. 打开 Composer（Cmd/Ctrl + L）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4747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3. 输入上面的 Prompt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4. 等待 AI 生成代码（约 10-30 秒）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937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5. 右键文件 → Open in Browser 预览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6. 🎉 恭喜！你刚刚用 AI 做出了第一个网页！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🔄  迭代优化：让网页更完美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Vibe Coding 的核心就是持续对话迭代！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926080"/>
            <a:ext cx="9601200" cy="64008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01752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💬 "把按钮改成渐变紫色，更大一点"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40"/>
            <a:ext cx="9601200" cy="64008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84048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💬 "添加一个动态粒子背景效果"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572000"/>
            <a:ext cx="9601200" cy="64008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63040" y="466344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💬 "加一个打字机效果的副标题"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5394960"/>
            <a:ext cx="9601200" cy="64008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5486400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💬 "让页面支持深色/浅色模式切换"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⚠️  常见问题与解决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Microsoft YaHei"/>
              </a:defRPr>
            </a:pPr>
            <a:r>
              <a:t>Q: Cursor 下载速度慢？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4688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A: 可使用镜像站或 VPN 加速下载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1089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Microsoft YaHei"/>
              </a:defRPr>
            </a:pPr>
            <a:r>
              <a:t>Q: AI 生成的代码有 Bug？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566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A: 直接告诉 AI 报错信息，它会自动修复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2062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Microsoft YaHei"/>
              </a:defRPr>
            </a:pPr>
            <a:r>
              <a:t>Q: 预览页面空白？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6634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A: 检查文件是否保存，尝试刷新浏览器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3035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ACC15"/>
                </a:solidFill>
                <a:latin typeface="Microsoft YaHei"/>
              </a:defRPr>
            </a:pPr>
            <a:r>
              <a:t>Q: 模型响应慢？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76071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A: 可在 Settings 中切换其他模型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📝  Day 1 关键收获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24028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🧠  Vibe Coding = 用自然语言描述需求 + AI 生成代码 + 对话迭代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10896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4612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🛠️  Cursor 是目前最强大的 AI 编程工具之一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25196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🚀  你已经能独立用 AI 生成一个网页了！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120640"/>
            <a:ext cx="9601200" cy="77724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25780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Microsoft YaHei"/>
              </a:defRPr>
            </a:pPr>
            <a:r>
              <a:t>🔄  持续迭代是 Vibe Coding 的核心方法论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🏠  课后作业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10058400" cy="36576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286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0B981"/>
                </a:solidFill>
                <a:latin typeface="Microsoft YaHei"/>
              </a:defRPr>
            </a:pPr>
            <a:r>
              <a:t>用 Cursor 生成一个个人介绍网页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1752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包含你的名字、一句话介绍、兴趣爱好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使用渐变背景 + 至少一个动画效果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添加一个"关于我"按钮，点击展开详情</a:t>
            </a:r>
          </a:p>
          <a:p>
            <a:pPr>
              <a:spcAft>
                <a:spcPts val="1400"/>
              </a:spcAft>
              <a:defRPr sz="1800">
                <a:solidFill>
                  <a:srgbClr val="FFFFFF"/>
                </a:solidFill>
                <a:latin typeface="Microsoft YaHei"/>
              </a:defRPr>
            </a:pPr>
            <a:r>
              <a:t>截图分享到学习群，获得导师反馈！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🔮  预告：Day 2 我们将学习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2860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3774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💡  如何找到值得做的好想法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32004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0" y="32918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📋  产品需求文档（PRD）的写法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41148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63040" y="42062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🎨  用 AI 快速构建多页面产品原型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02920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5120640"/>
            <a:ext cx="8686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Microsoft YaHei"/>
              </a:defRPr>
            </a:pPr>
            <a:r>
              <a:t>🤖  接入 AI 能力让产品更智能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📚  学习资源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657600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097280" y="210312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21945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Easy-Vibe 官方教程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https://datawhalechina.github.io/easy-vibe/zh-cn/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01752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31089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GitHub 仓库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31089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https://github.com/datawhalechina/easy-vibe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393192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40233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Cursor 官网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0233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https://cursor.com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97280" y="4846320"/>
            <a:ext cx="9601200" cy="685800"/>
          </a:xfrm>
          <a:prstGeom prst="roundRect">
            <a:avLst/>
          </a:prstGeom>
          <a:solidFill>
            <a:srgbClr val="1A1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4937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7C3AED"/>
                </a:solidFill>
                <a:latin typeface="Microsoft YaHei"/>
              </a:defRPr>
            </a:pPr>
            <a:r>
              <a:t>交互式附录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9377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BD5E1"/>
                </a:solidFill>
                <a:latin typeface="Microsoft YaHei"/>
              </a:defRPr>
            </a:pPr>
            <a:r>
              <a:t>https://datawhalechina.github.io/easy-vibe/zh-cn/appendix/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感谢参与 Day 1！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3047695" cy="50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A78BFA"/>
                </a:solidFill>
                <a:latin typeface="Microsoft YaHei"/>
              </a:defRPr>
            </a:pPr>
            <a:r>
              <a:t>明天见！Day 2 我们将开始构建真正的产品 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Easy-Vibe AI编程 0→1 免费体验营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